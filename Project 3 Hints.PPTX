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  <p:sldMasterId id="2147483756" r:id="rId2"/>
  </p:sldMasterIdLst>
  <p:notesMasterIdLst>
    <p:notesMasterId r:id="rId24"/>
  </p:notesMasterIdLst>
  <p:handoutMasterIdLst>
    <p:handoutMasterId r:id="rId25"/>
  </p:handoutMasterIdLst>
  <p:sldIdLst>
    <p:sldId id="256" r:id="rId3"/>
    <p:sldId id="257" r:id="rId4"/>
    <p:sldId id="258" r:id="rId5"/>
    <p:sldId id="312" r:id="rId6"/>
    <p:sldId id="306" r:id="rId7"/>
    <p:sldId id="313" r:id="rId8"/>
    <p:sldId id="314" r:id="rId9"/>
    <p:sldId id="311" r:id="rId10"/>
    <p:sldId id="315" r:id="rId11"/>
    <p:sldId id="316" r:id="rId12"/>
    <p:sldId id="317" r:id="rId13"/>
    <p:sldId id="303" r:id="rId14"/>
    <p:sldId id="304" r:id="rId15"/>
    <p:sldId id="305" r:id="rId16"/>
    <p:sldId id="259" r:id="rId17"/>
    <p:sldId id="307" r:id="rId18"/>
    <p:sldId id="265" r:id="rId19"/>
    <p:sldId id="263" r:id="rId20"/>
    <p:sldId id="292" r:id="rId21"/>
    <p:sldId id="318" r:id="rId22"/>
    <p:sldId id="26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15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E1FF721-8D09-419B-9516-3396A95940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624559-3C32-4978-8271-37AD18BC48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C8EE6E-0213-4E02-9189-A0736D712D74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95BF67-A5C8-4F4A-9DB1-E23A005CE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BE5303-558B-4077-8F06-9BE5A00CCB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1BDD33-326A-498E-8F74-24CE347CB0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0852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676875-E91C-40CB-BCA3-137C74D9E1E2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4CC714-9894-412A-B5A1-008324091B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95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400" y="152403"/>
            <a:ext cx="2133600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8208436" y="5943600"/>
            <a:ext cx="401743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235200" y="830266"/>
            <a:ext cx="1625600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eneva" charset="0"/>
              <a:ea typeface="宋体" panose="02010600030101010101" pitchFamily="2" charset="-122"/>
            </a:endParaRPr>
          </a:p>
        </p:txBody>
      </p:sp>
      <p:sp>
        <p:nvSpPr>
          <p:cNvPr id="7" name="Rectangle 6"/>
          <p:cNvSpPr/>
          <p:nvPr userDrawn="1"/>
        </p:nvSpPr>
        <p:spPr bwMode="auto">
          <a:xfrm>
            <a:off x="16933" y="6248400"/>
            <a:ext cx="12192000" cy="3937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6642100"/>
            <a:ext cx="12192000" cy="215900"/>
          </a:xfrm>
          <a:prstGeom prst="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5703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87600" y="3352800"/>
            <a:ext cx="7416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1"/>
            </a:lvl1pPr>
          </a:lstStyle>
          <a:p>
            <a:pPr lvl="0"/>
            <a:r>
              <a:rPr lang="en-US" altLang="zh-CN" noProof="0" dirty="0"/>
              <a:t>Click to edit Master subtitle style</a:t>
            </a:r>
          </a:p>
        </p:txBody>
      </p:sp>
      <p:sp>
        <p:nvSpPr>
          <p:cNvPr id="57037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016000" y="1828800"/>
            <a:ext cx="10261600" cy="1143000"/>
          </a:xfrm>
        </p:spPr>
        <p:txBody>
          <a:bodyPr/>
          <a:lstStyle>
            <a:lvl1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3600" baseline="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745788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-203200" y="6629400"/>
            <a:ext cx="609600" cy="228600"/>
          </a:xfrm>
        </p:spPr>
        <p:txBody>
          <a:bodyPr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‹#›</a:t>
            </a:fld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847621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6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070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6400" y="914400"/>
            <a:ext cx="5486400" cy="5410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914400"/>
            <a:ext cx="5486400" cy="5410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3559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9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9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19932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55783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7758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8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9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8909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8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9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3807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152400"/>
            <a:ext cx="117856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6400" y="914400"/>
            <a:ext cx="5486400" cy="5410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96000" y="914400"/>
            <a:ext cx="5486400" cy="26289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0" y="3695700"/>
            <a:ext cx="5486400" cy="26289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049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152400"/>
            <a:ext cx="117856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0" y="914400"/>
            <a:ext cx="5486400" cy="5410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914400"/>
            <a:ext cx="5486400" cy="5410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2859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950098" y="1562793"/>
            <a:ext cx="7892169" cy="2395043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 b="1">
                <a:latin typeface="Minion Pro" panose="02040503050306020203" pitchFamily="18" charset="0"/>
              </a:defRPr>
            </a:lvl1pPr>
          </a:lstStyle>
          <a:p>
            <a:r>
              <a:rPr lang="en-US" dirty="0"/>
              <a:t>Add title here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959429" y="4236521"/>
            <a:ext cx="7882839" cy="1655762"/>
          </a:xfrm>
        </p:spPr>
        <p:txBody>
          <a:bodyPr>
            <a:normAutofit/>
          </a:bodyPr>
          <a:lstStyle>
            <a:lvl1pPr marL="0" indent="0" algn="l">
              <a:spcBef>
                <a:spcPts val="600"/>
              </a:spcBef>
              <a:buNone/>
              <a:defRPr sz="2800" b="1" kern="1200" spc="90" baseline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Add Lesson number here</a:t>
            </a:r>
          </a:p>
          <a:p>
            <a:r>
              <a:rPr lang="en-US" dirty="0"/>
              <a:t>Add </a:t>
            </a:r>
            <a:r>
              <a:rPr lang="en-US"/>
              <a:t>Lesson title here</a:t>
            </a:r>
            <a:endParaRPr lang="en-US" dirty="0"/>
          </a:p>
        </p:txBody>
      </p:sp>
      <p:sp>
        <p:nvSpPr>
          <p:cNvPr id="5" name="Date Placeholder 3"/>
          <p:cNvSpPr txBox="1">
            <a:spLocks/>
          </p:cNvSpPr>
          <p:nvPr/>
        </p:nvSpPr>
        <p:spPr>
          <a:xfrm>
            <a:off x="559836" y="6458988"/>
            <a:ext cx="3844213" cy="3990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© 2017 UMass Amherst Global.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6052132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073020" y="1959429"/>
            <a:ext cx="10280779" cy="2593910"/>
          </a:xfrm>
        </p:spPr>
        <p:txBody>
          <a:bodyPr>
            <a:normAutofit/>
          </a:bodyPr>
          <a:lstStyle>
            <a:lvl1pPr>
              <a:defRPr sz="2400" b="1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Add bullets here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‹#›</a:t>
            </a:fld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830185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914400"/>
            <a:ext cx="111760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152400"/>
            <a:ext cx="117856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8208436" y="5943600"/>
            <a:ext cx="401743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030" name="Rectangle 8"/>
          <p:cNvSpPr>
            <a:spLocks noChangeArrowheads="1"/>
          </p:cNvSpPr>
          <p:nvPr/>
        </p:nvSpPr>
        <p:spPr bwMode="auto">
          <a:xfrm>
            <a:off x="311153" y="6553203"/>
            <a:ext cx="1955665" cy="259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Tw Cen MT" panose="020B0602020104020603" pitchFamily="34" charset="0"/>
                <a:ea typeface="宋体" panose="02010600030101010101" pitchFamily="2" charset="-122"/>
              </a:rPr>
              <a:t> ECE 6xx: Skill building in C++ </a:t>
            </a:r>
          </a:p>
        </p:txBody>
      </p:sp>
      <p:sp>
        <p:nvSpPr>
          <p:cNvPr id="1031" name="Line 9"/>
          <p:cNvSpPr>
            <a:spLocks noChangeShapeType="1"/>
          </p:cNvSpPr>
          <p:nvPr/>
        </p:nvSpPr>
        <p:spPr bwMode="auto">
          <a:xfrm>
            <a:off x="0" y="6477000"/>
            <a:ext cx="12192000" cy="0"/>
          </a:xfrm>
          <a:prstGeom prst="line">
            <a:avLst/>
          </a:prstGeom>
          <a:noFill/>
          <a:ln w="12700">
            <a:solidFill>
              <a:schemeClr val="accent1">
                <a:lumMod val="7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32" name="Text Box 10"/>
          <p:cNvSpPr txBox="1">
            <a:spLocks noChangeArrowheads="1"/>
          </p:cNvSpPr>
          <p:nvPr userDrawn="1"/>
        </p:nvSpPr>
        <p:spPr bwMode="auto">
          <a:xfrm>
            <a:off x="2641602" y="6553200"/>
            <a:ext cx="7160935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accent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Verdana" panose="020B0604030504040204" pitchFamily="34" charset="0"/>
              </a:rPr>
              <a:t>		</a:t>
            </a: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Tw Cen MT" panose="020B0602020104020603" pitchFamily="34" charset="0"/>
              </a:rPr>
              <a:t>Foundations of Computer Engineering		                 Sandip Kundu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914400" y="64865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C2E6914-CC59-43AD-8993-151B0B65A1A8}" type="slidenum">
              <a:rPr lang="en-US" kern="0" smtClean="0"/>
              <a:pPr>
                <a:defRPr/>
              </a:pPr>
              <a:t>‹#›</a:t>
            </a:fld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507541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accent5">
              <a:lumMod val="75000"/>
            </a:schemeClr>
          </a:solidFill>
          <a:latin typeface="Leelawadee" panose="020B0502040204020203" pitchFamily="34" charset="-34"/>
          <a:ea typeface="+mj-ea"/>
          <a:cs typeface="Leelawadee" panose="020B0502040204020203" pitchFamily="34" charset="-34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60C99C"/>
          </a:solidFill>
          <a:latin typeface="Leelawadee" panose="020B0502040204020203" pitchFamily="34" charset="-34"/>
          <a:cs typeface="Leelawadee" panose="020B0502040204020203" pitchFamily="34" charset="-34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60C99C"/>
          </a:solidFill>
          <a:latin typeface="Leelawadee" panose="020B0502040204020203" pitchFamily="34" charset="-34"/>
          <a:cs typeface="Leelawadee" panose="020B0502040204020203" pitchFamily="34" charset="-34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60C99C"/>
          </a:solidFill>
          <a:latin typeface="Leelawadee" panose="020B0502040204020203" pitchFamily="34" charset="-34"/>
          <a:cs typeface="Leelawadee" panose="020B0502040204020203" pitchFamily="34" charset="-34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60C99C"/>
          </a:solidFill>
          <a:latin typeface="Leelawadee" panose="020B0502040204020203" pitchFamily="34" charset="-34"/>
          <a:cs typeface="Leelawadee" panose="020B0502040204020203" pitchFamily="34" charset="-34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003399"/>
          </a:solidFill>
          <a:latin typeface="Georgia" panose="02040502050405020303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003399"/>
          </a:solidFill>
          <a:latin typeface="Georgia" panose="02040502050405020303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003399"/>
          </a:solidFill>
          <a:latin typeface="Georgia" panose="02040502050405020303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003399"/>
          </a:solidFill>
          <a:latin typeface="Georgia" panose="02040502050405020303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40C22"/>
        </a:buClr>
        <a:buSzPct val="10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40C22"/>
        </a:buClr>
        <a:buSzPct val="100000"/>
        <a:buFont typeface="Times" panose="02020603050405020304" pitchFamily="18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40C22"/>
        </a:buClr>
        <a:buSzPct val="100000"/>
        <a:buFont typeface="Times" panose="02020603050405020304" pitchFamily="18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40C22"/>
        </a:buClr>
        <a:buSzPct val="100000"/>
        <a:buFont typeface="Times" panose="02020603050405020304" pitchFamily="18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40C22"/>
        </a:buClr>
        <a:buSzPct val="100000"/>
        <a:buFont typeface="Times" panose="02020603050405020304" pitchFamily="18" charset="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138334"/>
            <a:ext cx="10515600" cy="7557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Add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3020" y="1959429"/>
            <a:ext cx="10280779" cy="2668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Add bullets here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4038600" y="641454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2017 UMass Amherst Global. All rights reserved.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8610600" y="64145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FC2E6914-CC59-43AD-8993-151B0B65A1A8}" type="slidenum">
              <a:rPr lang="en-US" kern="0" smtClean="0"/>
              <a:pPr>
                <a:defRPr/>
              </a:pPr>
              <a:t>‹#›</a:t>
            </a:fld>
            <a:endParaRPr lang="en-US" kern="0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38200" y="641454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Skill Building in C++ Programming Hints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752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0098" y="1562794"/>
            <a:ext cx="7892169" cy="1856682"/>
          </a:xfrm>
        </p:spPr>
        <p:txBody>
          <a:bodyPr/>
          <a:lstStyle/>
          <a:p>
            <a:r>
              <a:rPr lang="en-US" dirty="0"/>
              <a:t>ECE 697CE: Foundations of Computer Engineering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959428" y="3807896"/>
            <a:ext cx="7882839" cy="1655762"/>
          </a:xfrm>
        </p:spPr>
        <p:txBody>
          <a:bodyPr/>
          <a:lstStyle/>
          <a:p>
            <a:pPr marL="203200" indent="-203200" eaLnBrk="1" hangingPunct="1">
              <a:defRPr/>
            </a:pPr>
            <a:r>
              <a:rPr lang="en-US" altLang="en-US" sz="2800" dirty="0"/>
              <a:t>Skill Building in C++ </a:t>
            </a:r>
            <a:r>
              <a:rPr lang="en-US" altLang="en-US" sz="2800"/>
              <a:t>Programming  Hints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477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874" y="455569"/>
            <a:ext cx="9458325" cy="1100546"/>
          </a:xfrm>
        </p:spPr>
        <p:txBody>
          <a:bodyPr>
            <a:normAutofit/>
          </a:bodyPr>
          <a:lstStyle/>
          <a:p>
            <a:r>
              <a:rPr lang="en-US" dirty="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2673" y="1556116"/>
            <a:ext cx="9886801" cy="38064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Write a detailed simulation program which simulates the MIPS architecture, cycle by cycle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Simulator should be</a:t>
            </a:r>
          </a:p>
          <a:p>
            <a:pPr lvl="1"/>
            <a:r>
              <a:rPr lang="en-US" b="1" dirty="0"/>
              <a:t>Cycle-accurate with respect to register contents</a:t>
            </a:r>
          </a:p>
          <a:p>
            <a:pPr lvl="1" algn="just"/>
            <a:r>
              <a:rPr lang="en-US" b="1" dirty="0"/>
              <a:t>Display the contents of all the registers upon request</a:t>
            </a:r>
          </a:p>
          <a:p>
            <a:r>
              <a:rPr lang="en-US" dirty="0"/>
              <a:t>Please note that the hints presented in this chapter are mere suggestions. It is not mandatory to implement them as mentioned.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49425-5112-4458-8C8D-ADECCA1EA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2118D-C9A0-4DE8-BF75-DEE4DDEC1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B42BD-ACA5-4B97-A205-2B98A626E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2</a:t>
            </a:fld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044133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675" y="519638"/>
            <a:ext cx="10991850" cy="1109137"/>
          </a:xfrm>
        </p:spPr>
        <p:txBody>
          <a:bodyPr>
            <a:normAutofit/>
          </a:bodyPr>
          <a:lstStyle/>
          <a:p>
            <a:r>
              <a:rPr lang="en-US" dirty="0"/>
              <a:t>Reading the Machine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9675" y="1628775"/>
            <a:ext cx="9772649" cy="341729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Save the machine code as a text file, say code.txt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In the main program, read the text file and save it in the data structure used to implement Instruction memory.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b="1" dirty="0"/>
              <a:t>For example, Instruction memory could be  implemented using a character array:</a:t>
            </a:r>
          </a:p>
          <a:p>
            <a:pPr lvl="2" indent="0">
              <a:buNone/>
            </a:pPr>
            <a:r>
              <a:rPr lang="en-US" sz="2700" b="1" dirty="0"/>
              <a:t>char IMem[2048] </a:t>
            </a:r>
          </a:p>
          <a:p>
            <a:pPr marL="914400" lvl="1" indent="-457200">
              <a:buFont typeface="Wingdings" panose="05000000000000000000" pitchFamily="2" charset="2"/>
              <a:buChar char="q"/>
            </a:pPr>
            <a:r>
              <a:rPr lang="en-US" sz="2700" b="1" u="sng" dirty="0"/>
              <a:t>Hint</a:t>
            </a:r>
            <a:r>
              <a:rPr lang="en-US" b="1" dirty="0"/>
              <a:t>: You may use the </a:t>
            </a:r>
            <a:r>
              <a:rPr lang="en-US" sz="2700" b="1" u="sng" dirty="0"/>
              <a:t>stringstream</a:t>
            </a:r>
            <a:r>
              <a:rPr lang="en-US" b="1" i="1" dirty="0"/>
              <a:t> </a:t>
            </a:r>
            <a:r>
              <a:rPr lang="en-US" b="1" dirty="0"/>
              <a:t>functions in C++ to convert the string in the text file to numbers</a:t>
            </a:r>
            <a:endParaRPr lang="en-US" b="1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BAF79-264F-4A58-BCE6-538C90136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FB15D-F393-402C-9D45-E440FD902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A2497-6E17-421D-9BE8-B303D8A30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3</a:t>
            </a:fld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931332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61975" y="804959"/>
            <a:ext cx="10515600" cy="755779"/>
          </a:xfrm>
        </p:spPr>
        <p:txBody>
          <a:bodyPr/>
          <a:lstStyle/>
          <a:p>
            <a:r>
              <a:rPr lang="en-US" dirty="0"/>
              <a:t>Main Components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main components </a:t>
            </a:r>
          </a:p>
          <a:p>
            <a:pPr lvl="1"/>
            <a:r>
              <a:rPr lang="en-US" b="1" dirty="0"/>
              <a:t>Functional Units : IF , ID , EX , MEM , WB</a:t>
            </a:r>
          </a:p>
          <a:p>
            <a:pPr lvl="1"/>
            <a:r>
              <a:rPr lang="en-US" b="1" dirty="0"/>
              <a:t>Registers in between the functional units : IF_ID, ID_EX, EX_MEM, MEM_WB</a:t>
            </a:r>
          </a:p>
          <a:p>
            <a:pPr lvl="1"/>
            <a:r>
              <a:rPr lang="en-US" b="1" dirty="0"/>
              <a:t>32 Registers</a:t>
            </a:r>
          </a:p>
          <a:p>
            <a:pPr lvl="1"/>
            <a:r>
              <a:rPr lang="en-US" b="1" dirty="0"/>
              <a:t>PC</a:t>
            </a:r>
          </a:p>
          <a:p>
            <a:pPr lvl="1"/>
            <a:r>
              <a:rPr lang="en-US" b="1" dirty="0"/>
              <a:t>Memories : Instruction and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4</a:t>
            </a:fld>
            <a:endParaRPr lang="en-US" kern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42FEE-C644-40FF-9D2C-BD32EA39C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215AA-64FB-42C9-A37E-554209670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473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95300" y="738284"/>
            <a:ext cx="10515600" cy="755779"/>
          </a:xfrm>
        </p:spPr>
        <p:txBody>
          <a:bodyPr/>
          <a:lstStyle/>
          <a:p>
            <a:r>
              <a:rPr lang="en-US" dirty="0"/>
              <a:t>Implementing the Functional Unit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73021" y="1684563"/>
            <a:ext cx="10280779" cy="4459061"/>
          </a:xfrm>
        </p:spPr>
        <p:txBody>
          <a:bodyPr>
            <a:normAutofit/>
          </a:bodyPr>
          <a:lstStyle/>
          <a:p>
            <a:r>
              <a:rPr lang="en-US" sz="2700" u="sng" dirty="0"/>
              <a:t>Hint</a:t>
            </a:r>
            <a:r>
              <a:rPr lang="en-US" dirty="0"/>
              <a:t>: One may use functions to implement functional units: IF(), ID(), EX() , MEM(), WB()</a:t>
            </a:r>
          </a:p>
          <a:p>
            <a:r>
              <a:rPr lang="en-US" dirty="0"/>
              <a:t>In MIPS, IF stage takes as input the contents of IF_ID register and stores the result in the ID_EX register</a:t>
            </a:r>
          </a:p>
          <a:p>
            <a:r>
              <a:rPr lang="en-US" dirty="0"/>
              <a:t>Similarly ID stage takes as input the contents of ID_EX register and stores the result in the EX_MEM register and so on.</a:t>
            </a:r>
          </a:p>
          <a:p>
            <a:r>
              <a:rPr lang="en-US" dirty="0"/>
              <a:t>Note that the functional units can take other registers as inputs too.</a:t>
            </a:r>
          </a:p>
          <a:p>
            <a:pPr lvl="1"/>
            <a:r>
              <a:rPr lang="en-US" b="1" dirty="0"/>
              <a:t>For example, When a branch is detected and the IF stage has to fetch an instruction located at the branch target address, it requires the contents of EX_MEM register.</a:t>
            </a:r>
          </a:p>
          <a:p>
            <a:pPr marL="457200" lvl="1" indent="0"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5</a:t>
            </a:fld>
            <a:endParaRPr lang="en-US" kern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0DBBB-8901-4B63-9456-ADFFCA17C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6BFFC-6DBC-48FC-BABE-8688981AB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858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04825" y="741574"/>
            <a:ext cx="10515600" cy="755779"/>
          </a:xfrm>
        </p:spPr>
        <p:txBody>
          <a:bodyPr/>
          <a:lstStyle/>
          <a:p>
            <a:r>
              <a:rPr lang="en-US" dirty="0"/>
              <a:t>IF Stage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73021" y="1835604"/>
            <a:ext cx="10280779" cy="3536496"/>
          </a:xfrm>
        </p:spPr>
        <p:txBody>
          <a:bodyPr/>
          <a:lstStyle/>
          <a:p>
            <a:pPr marL="0" indent="0">
              <a:buNone/>
            </a:pPr>
            <a:r>
              <a:rPr lang="en-US" sz="2700" u="sng" dirty="0"/>
              <a:t>IF stage</a:t>
            </a:r>
          </a:p>
          <a:p>
            <a:pPr marL="201168" lvl="1" indent="0">
              <a:buNone/>
            </a:pPr>
            <a:r>
              <a:rPr lang="en-US" sz="2700" b="1" dirty="0"/>
              <a:t>IF/ID.IR </a:t>
            </a:r>
            <a:r>
              <a:rPr lang="en-US" sz="2400" b="1" dirty="0"/>
              <a:t>&lt;- Mem[PC];</a:t>
            </a:r>
          </a:p>
          <a:p>
            <a:pPr marL="384048" lvl="2" indent="0">
              <a:buNone/>
            </a:pPr>
            <a:r>
              <a:rPr lang="en-US" sz="2400" b="1" dirty="0"/>
              <a:t>If ((EX/</a:t>
            </a:r>
            <a:r>
              <a:rPr lang="en-US" sz="2400" b="1" dirty="0" err="1"/>
              <a:t>MEM.opcode</a:t>
            </a:r>
            <a:r>
              <a:rPr lang="en-US" sz="2400" b="1" dirty="0"/>
              <a:t> ==branch) &amp; EX/</a:t>
            </a:r>
            <a:r>
              <a:rPr lang="en-US" sz="2400" b="1" dirty="0" err="1"/>
              <a:t>MEM.cond</a:t>
            </a:r>
            <a:r>
              <a:rPr lang="en-US" sz="2400" b="1" dirty="0"/>
              <a:t> ) </a:t>
            </a:r>
          </a:p>
          <a:p>
            <a:pPr marL="384048" lvl="2" indent="0">
              <a:buNone/>
            </a:pPr>
            <a:r>
              <a:rPr lang="en-US" sz="2400" b="1" dirty="0"/>
              <a:t>	</a:t>
            </a:r>
            <a:r>
              <a:rPr lang="en-US" sz="2700" b="1" dirty="0"/>
              <a:t>IF/ID.NPC, PC </a:t>
            </a:r>
            <a:r>
              <a:rPr lang="en-US" sz="2400" b="1" dirty="0"/>
              <a:t>&lt;- {EX/</a:t>
            </a:r>
            <a:r>
              <a:rPr lang="en-US" sz="2400" b="1" dirty="0" err="1"/>
              <a:t>MEM.ALUOutput</a:t>
            </a:r>
            <a:r>
              <a:rPr lang="en-US" sz="2400" b="1" dirty="0"/>
              <a:t>} </a:t>
            </a:r>
          </a:p>
          <a:p>
            <a:pPr marL="384048" lvl="2" indent="0">
              <a:buNone/>
            </a:pPr>
            <a:r>
              <a:rPr lang="en-US" sz="2400" b="1" dirty="0"/>
              <a:t>else </a:t>
            </a:r>
          </a:p>
          <a:p>
            <a:pPr marL="384048" lvl="2" indent="0">
              <a:buNone/>
            </a:pPr>
            <a:r>
              <a:rPr lang="en-US" sz="2400" b="1" dirty="0"/>
              <a:t>	</a:t>
            </a:r>
            <a:r>
              <a:rPr lang="en-US" sz="2700" b="1" dirty="0"/>
              <a:t>IF/ID.NPC, PC </a:t>
            </a:r>
            <a:r>
              <a:rPr lang="en-US" sz="2400" b="1" dirty="0"/>
              <a:t>&lt;- {PC+4})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6</a:t>
            </a:fld>
            <a:endParaRPr lang="en-US" kern="0" dirty="0"/>
          </a:p>
        </p:txBody>
      </p:sp>
      <p:sp>
        <p:nvSpPr>
          <p:cNvPr id="5" name="Rectangle 4"/>
          <p:cNvSpPr/>
          <p:nvPr/>
        </p:nvSpPr>
        <p:spPr>
          <a:xfrm>
            <a:off x="7662050" y="6246168"/>
            <a:ext cx="300595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0"/>
              </a:spcBef>
            </a:pPr>
            <a:r>
              <a:rPr lang="en-US" altLang="en-US" sz="900" dirty="0">
                <a:solidFill>
                  <a:prstClr val="black"/>
                </a:solidFill>
                <a:latin typeface="Times New Roman" panose="02020603050405020304" pitchFamily="18" charset="0"/>
              </a:rPr>
              <a:t>Adapted from ECE 568 Computer Architecture, Israel Koren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A19412-4ED0-4CF5-9C22-5D7AA9D7D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7C22B2-B5CF-4415-934F-CDFE2655A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149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14350" y="735125"/>
            <a:ext cx="10515600" cy="755779"/>
          </a:xfrm>
        </p:spPr>
        <p:txBody>
          <a:bodyPr/>
          <a:lstStyle/>
          <a:p>
            <a:r>
              <a:rPr lang="en-US" dirty="0"/>
              <a:t>ID Stage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73020" y="1959428"/>
            <a:ext cx="10280779" cy="3298371"/>
          </a:xfrm>
        </p:spPr>
        <p:txBody>
          <a:bodyPr/>
          <a:lstStyle/>
          <a:p>
            <a:pPr marL="0" indent="0">
              <a:buNone/>
            </a:pPr>
            <a:r>
              <a:rPr lang="en-US" sz="2700" u="sng" dirty="0"/>
              <a:t>ID stage</a:t>
            </a:r>
          </a:p>
          <a:p>
            <a:pPr marL="201168" lvl="1" indent="0">
              <a:buNone/>
            </a:pPr>
            <a:r>
              <a:rPr lang="en-US" sz="2700" b="1" dirty="0"/>
              <a:t>ID/EX.A</a:t>
            </a:r>
            <a:r>
              <a:rPr lang="en-US" sz="2700" dirty="0"/>
              <a:t> </a:t>
            </a:r>
            <a:r>
              <a:rPr lang="en-US" sz="2400" dirty="0"/>
              <a:t>&lt;- Regs[IF/ID.IR[rs]];</a:t>
            </a:r>
          </a:p>
          <a:p>
            <a:pPr marL="201168" lvl="1" indent="0">
              <a:buNone/>
            </a:pPr>
            <a:r>
              <a:rPr lang="en-US" sz="2700" b="1" dirty="0"/>
              <a:t>ID/EX.A </a:t>
            </a:r>
            <a:r>
              <a:rPr lang="en-US" sz="2400" dirty="0"/>
              <a:t>&lt;- Regs[IF/ID.IR[rt]];</a:t>
            </a:r>
          </a:p>
          <a:p>
            <a:pPr marL="201168" lvl="1" indent="0">
              <a:buNone/>
            </a:pPr>
            <a:r>
              <a:rPr lang="en-US" sz="2700" b="1" dirty="0"/>
              <a:t>ID/EX.NPC </a:t>
            </a:r>
            <a:r>
              <a:rPr lang="en-US" sz="2400" dirty="0"/>
              <a:t>&lt;- IF/ID.NPC;</a:t>
            </a:r>
          </a:p>
          <a:p>
            <a:pPr marL="201168" lvl="1" indent="0">
              <a:buNone/>
            </a:pPr>
            <a:r>
              <a:rPr lang="en-US" sz="2700" b="1" dirty="0"/>
              <a:t>ID/EX.IR </a:t>
            </a:r>
            <a:r>
              <a:rPr lang="en-US" sz="2400" dirty="0"/>
              <a:t>&lt;- IF/ID.IR;</a:t>
            </a:r>
          </a:p>
          <a:p>
            <a:pPr marL="201168" lvl="1" indent="0">
              <a:buNone/>
            </a:pPr>
            <a:r>
              <a:rPr lang="en-US" sz="2700" b="1" dirty="0"/>
              <a:t>ID/EX.Imm </a:t>
            </a:r>
            <a:r>
              <a:rPr lang="en-US" sz="2400" dirty="0"/>
              <a:t>&lt;- sign-extend(IF/ID.IR[immediate field]);</a:t>
            </a:r>
          </a:p>
          <a:p>
            <a:pPr marL="201168" lvl="1" indent="0">
              <a:buNone/>
            </a:pPr>
            <a:endParaRPr lang="en-US" sz="24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7</a:t>
            </a:fld>
            <a:endParaRPr lang="en-US" kern="0" dirty="0"/>
          </a:p>
        </p:txBody>
      </p:sp>
      <p:sp>
        <p:nvSpPr>
          <p:cNvPr id="5" name="Rectangle 4"/>
          <p:cNvSpPr/>
          <p:nvPr/>
        </p:nvSpPr>
        <p:spPr>
          <a:xfrm>
            <a:off x="7662050" y="6246168"/>
            <a:ext cx="300595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0"/>
              </a:spcBef>
            </a:pPr>
            <a:r>
              <a:rPr lang="en-US" altLang="en-US" sz="900" dirty="0">
                <a:solidFill>
                  <a:prstClr val="black"/>
                </a:solidFill>
                <a:latin typeface="Times New Roman" panose="02020603050405020304" pitchFamily="18" charset="0"/>
              </a:rPr>
              <a:t>Adapted from ECE 568 Computer Architecture, Israel Koren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B9D59F4-3288-43A6-BB8C-B98F3586D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E01A0C-DE44-41B6-A454-84817EC3F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87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675" y="824009"/>
            <a:ext cx="10515600" cy="755779"/>
          </a:xfrm>
        </p:spPr>
        <p:txBody>
          <a:bodyPr/>
          <a:lstStyle/>
          <a:p>
            <a:r>
              <a:rPr lang="en-US" dirty="0"/>
              <a:t>When Does MIPS Sign Extend?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73021" y="1854654"/>
            <a:ext cx="10280779" cy="3422196"/>
          </a:xfrm>
        </p:spPr>
        <p:txBody>
          <a:bodyPr/>
          <a:lstStyle/>
          <a:p>
            <a:r>
              <a:rPr lang="en-US" dirty="0"/>
              <a:t>When value is sign extended , copy upper bit to full value:</a:t>
            </a:r>
          </a:p>
          <a:p>
            <a:r>
              <a:rPr lang="en-US" dirty="0"/>
              <a:t>Examples of sign extending 8 bits to 16 bits:</a:t>
            </a:r>
          </a:p>
          <a:p>
            <a:pPr lvl="1"/>
            <a:r>
              <a:rPr lang="en-US" b="1" dirty="0"/>
              <a:t>00001010 -&gt; 00000000 00001010</a:t>
            </a:r>
          </a:p>
          <a:p>
            <a:pPr lvl="1"/>
            <a:r>
              <a:rPr lang="en-US" b="1" dirty="0"/>
              <a:t>11111101 -&gt; 11111111 11111101</a:t>
            </a:r>
          </a:p>
          <a:p>
            <a:r>
              <a:rPr lang="en-US" dirty="0"/>
              <a:t>Arithmetic instructions sign extend immediates even for the unsigned versions of the instructions</a:t>
            </a:r>
          </a:p>
          <a:p>
            <a:r>
              <a:rPr lang="en-US" dirty="0"/>
              <a:t>Logical instructions do not sign extend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8</a:t>
            </a:fld>
            <a:endParaRPr lang="en-US" kern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8F21A-A2E0-49FF-A291-81E1027DF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85270-02B1-4D65-9A7F-BBA0679F3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820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517814"/>
            <a:ext cx="10515600" cy="755779"/>
          </a:xfrm>
        </p:spPr>
        <p:txBody>
          <a:bodyPr/>
          <a:lstStyle/>
          <a:p>
            <a:r>
              <a:rPr lang="en-US" dirty="0"/>
              <a:t>EX Stage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609849" y="704850"/>
            <a:ext cx="8943975" cy="53816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700" u="sng" dirty="0"/>
              <a:t>ALU instruction</a:t>
            </a:r>
          </a:p>
          <a:p>
            <a:pPr marL="201168" lvl="1" indent="0">
              <a:buNone/>
            </a:pPr>
            <a:r>
              <a:rPr lang="en-US" sz="2700" b="1" dirty="0"/>
              <a:t>EX/MEM.IR</a:t>
            </a:r>
            <a:r>
              <a:rPr lang="en-US" sz="2700" dirty="0"/>
              <a:t> </a:t>
            </a:r>
            <a:r>
              <a:rPr lang="en-US" dirty="0"/>
              <a:t>&lt;- ID/EX.IR;</a:t>
            </a:r>
          </a:p>
          <a:p>
            <a:pPr marL="201168" lvl="1" indent="0">
              <a:buNone/>
            </a:pPr>
            <a:r>
              <a:rPr lang="en-US" sz="2700" b="1" dirty="0"/>
              <a:t>EX/</a:t>
            </a:r>
            <a:r>
              <a:rPr lang="en-US" sz="2700" b="1" dirty="0" err="1"/>
              <a:t>MEM.ALUOutput</a:t>
            </a:r>
            <a:r>
              <a:rPr lang="en-US" sz="2700" b="1" dirty="0"/>
              <a:t> </a:t>
            </a:r>
            <a:r>
              <a:rPr lang="en-US" dirty="0"/>
              <a:t>&lt;- ID/EX.A </a:t>
            </a:r>
            <a:r>
              <a:rPr lang="en-US" dirty="0" err="1"/>
              <a:t>func</a:t>
            </a:r>
            <a:r>
              <a:rPr lang="en-US" dirty="0"/>
              <a:t> ID/EX.B;</a:t>
            </a:r>
          </a:p>
          <a:p>
            <a:pPr marL="201168" lvl="1" indent="0">
              <a:buNone/>
            </a:pPr>
            <a:r>
              <a:rPr lang="en-US" dirty="0"/>
              <a:t> 		or</a:t>
            </a:r>
          </a:p>
          <a:p>
            <a:pPr marL="201168" lvl="1" indent="0">
              <a:buNone/>
            </a:pPr>
            <a:r>
              <a:rPr lang="en-US" sz="2700" b="1" dirty="0"/>
              <a:t>EX/</a:t>
            </a:r>
            <a:r>
              <a:rPr lang="en-US" sz="2700" b="1" dirty="0" err="1"/>
              <a:t>MEM.ALUOutput</a:t>
            </a:r>
            <a:r>
              <a:rPr lang="en-US" sz="2700" b="1" dirty="0"/>
              <a:t> </a:t>
            </a:r>
            <a:r>
              <a:rPr lang="en-US" dirty="0"/>
              <a:t>&lt;- ID/EX.A op ID/EX.Imm;</a:t>
            </a:r>
          </a:p>
          <a:p>
            <a:pPr marL="0" indent="0">
              <a:buNone/>
            </a:pPr>
            <a:r>
              <a:rPr lang="en-US" sz="2700" u="sng" dirty="0"/>
              <a:t>Load or store instruction</a:t>
            </a:r>
          </a:p>
          <a:p>
            <a:pPr marL="201168" lvl="1" indent="0">
              <a:buNone/>
            </a:pPr>
            <a:r>
              <a:rPr lang="en-US" sz="2700" b="1" dirty="0"/>
              <a:t>EX/MEM.IR </a:t>
            </a:r>
            <a:r>
              <a:rPr lang="en-US" dirty="0"/>
              <a:t>&lt;- ID/EX.IR;</a:t>
            </a:r>
          </a:p>
          <a:p>
            <a:pPr marL="201168" lvl="1" indent="0">
              <a:buNone/>
            </a:pPr>
            <a:r>
              <a:rPr lang="en-US" sz="2700" b="1" dirty="0"/>
              <a:t>EX/</a:t>
            </a:r>
            <a:r>
              <a:rPr lang="en-US" sz="2700" b="1" dirty="0" err="1"/>
              <a:t>MEM.ALUOutput</a:t>
            </a:r>
            <a:r>
              <a:rPr lang="en-US" sz="2700" b="1" dirty="0"/>
              <a:t> </a:t>
            </a:r>
            <a:r>
              <a:rPr lang="en-US" dirty="0"/>
              <a:t>&lt;- ID/EX.A + ID/EX.Imm;</a:t>
            </a:r>
          </a:p>
          <a:p>
            <a:pPr marL="201168" lvl="1" indent="0">
              <a:buNone/>
            </a:pPr>
            <a:r>
              <a:rPr lang="en-US" sz="2700" b="1" dirty="0"/>
              <a:t>EX/MEM.B </a:t>
            </a:r>
            <a:r>
              <a:rPr lang="en-US" dirty="0"/>
              <a:t>&lt;-ID/EX.B; (for store)</a:t>
            </a:r>
          </a:p>
          <a:p>
            <a:pPr marL="0" indent="0">
              <a:buNone/>
            </a:pPr>
            <a:r>
              <a:rPr lang="en-US" sz="2700" u="sng" dirty="0"/>
              <a:t>Branch instruction</a:t>
            </a:r>
          </a:p>
          <a:p>
            <a:pPr marL="400050" lvl="1" indent="-198882">
              <a:buNone/>
            </a:pPr>
            <a:r>
              <a:rPr lang="en-US" sz="2700" b="1" dirty="0"/>
              <a:t>EX/</a:t>
            </a:r>
            <a:r>
              <a:rPr lang="en-US" sz="2700" b="1" dirty="0" err="1"/>
              <a:t>MEM.ALUOutput</a:t>
            </a:r>
            <a:r>
              <a:rPr lang="en-US" sz="2700" b="1" dirty="0"/>
              <a:t> </a:t>
            </a:r>
            <a:r>
              <a:rPr lang="en-US" dirty="0"/>
              <a:t>&lt;-ID/EX.NPC + (ID/EX.Imm &lt;&lt;2);</a:t>
            </a:r>
          </a:p>
          <a:p>
            <a:pPr marL="400050" lvl="1" indent="-198882">
              <a:buNone/>
            </a:pPr>
            <a:r>
              <a:rPr lang="en-US" sz="2700" b="1" dirty="0"/>
              <a:t>EX/</a:t>
            </a:r>
            <a:r>
              <a:rPr lang="en-US" sz="2700" b="1" dirty="0" err="1"/>
              <a:t>MEM.cond</a:t>
            </a:r>
            <a:r>
              <a:rPr lang="en-US" sz="2700" b="1" dirty="0"/>
              <a:t> </a:t>
            </a:r>
            <a:r>
              <a:rPr lang="en-US" dirty="0"/>
              <a:t>&lt;- (ID/EX.A == 0);</a:t>
            </a:r>
          </a:p>
          <a:p>
            <a:pPr marL="0" indent="-198882">
              <a:buNone/>
            </a:pPr>
            <a:endParaRPr lang="en-US" u="sng" dirty="0"/>
          </a:p>
          <a:p>
            <a:pPr marL="201168" lvl="1" indent="0">
              <a:buNone/>
            </a:pPr>
            <a:endParaRPr lang="en-US" dirty="0"/>
          </a:p>
          <a:p>
            <a:pPr marL="201168" lvl="1" indent="0">
              <a:buNone/>
            </a:pPr>
            <a:endParaRPr lang="en-US" dirty="0"/>
          </a:p>
          <a:p>
            <a:pPr marL="201168" lvl="1" indent="0">
              <a:buNone/>
            </a:pPr>
            <a:endParaRPr lang="en-US" dirty="0"/>
          </a:p>
          <a:p>
            <a:pPr marL="201168" lvl="1" indent="0">
              <a:buNone/>
            </a:pPr>
            <a:endParaRPr lang="en-US" dirty="0"/>
          </a:p>
          <a:p>
            <a:pPr marL="201168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9</a:t>
            </a:fld>
            <a:endParaRPr lang="en-US" kern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882574-5079-4C11-A3AC-99A680864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1F1BC5B-4FA1-4D2E-A77F-5A832B998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65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61975" y="741574"/>
            <a:ext cx="10515600" cy="755779"/>
          </a:xfrm>
        </p:spPr>
        <p:txBody>
          <a:bodyPr/>
          <a:lstStyle/>
          <a:p>
            <a:r>
              <a:rPr lang="en-US" dirty="0"/>
              <a:t>MEM Stage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73021" y="1665725"/>
            <a:ext cx="10404604" cy="43445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700" u="sng" dirty="0"/>
              <a:t>ALU instruction</a:t>
            </a:r>
          </a:p>
          <a:p>
            <a:pPr marL="201168" lvl="1" indent="0">
              <a:buNone/>
            </a:pPr>
            <a:r>
              <a:rPr lang="en-US" sz="2700" b="1" dirty="0"/>
              <a:t>MEM/WB.IR </a:t>
            </a:r>
            <a:r>
              <a:rPr lang="en-US" b="1" dirty="0"/>
              <a:t>&lt;- EX/MEM.IR;</a:t>
            </a:r>
          </a:p>
          <a:p>
            <a:pPr marL="201168" lvl="1" indent="0">
              <a:buNone/>
            </a:pPr>
            <a:r>
              <a:rPr lang="en-US" sz="2700" b="1" dirty="0"/>
              <a:t>MEM/</a:t>
            </a:r>
            <a:r>
              <a:rPr lang="en-US" sz="2700" b="1" dirty="0" err="1"/>
              <a:t>WB.ALUOutput</a:t>
            </a:r>
            <a:r>
              <a:rPr lang="en-US" sz="2700" b="1" dirty="0"/>
              <a:t> </a:t>
            </a:r>
            <a:r>
              <a:rPr lang="en-US" b="1" dirty="0"/>
              <a:t>&lt;- EX/</a:t>
            </a:r>
            <a:r>
              <a:rPr lang="en-US" b="1" dirty="0" err="1"/>
              <a:t>MEM.ALUOutput</a:t>
            </a:r>
            <a:r>
              <a:rPr lang="en-US" b="1" dirty="0"/>
              <a:t>;</a:t>
            </a:r>
          </a:p>
          <a:p>
            <a:pPr marL="201168" lvl="1" indent="0">
              <a:buNone/>
            </a:pPr>
            <a:endParaRPr lang="en-US" b="1" dirty="0"/>
          </a:p>
          <a:p>
            <a:pPr marL="0" indent="-198882">
              <a:buNone/>
            </a:pPr>
            <a:r>
              <a:rPr lang="en-US" dirty="0"/>
              <a:t> </a:t>
            </a:r>
            <a:r>
              <a:rPr lang="en-US" sz="2700" u="sng" dirty="0"/>
              <a:t>Load or store instruction</a:t>
            </a:r>
          </a:p>
          <a:p>
            <a:pPr marL="201168" lvl="1" indent="0">
              <a:buNone/>
            </a:pPr>
            <a:r>
              <a:rPr lang="en-US" sz="2700" b="1" dirty="0"/>
              <a:t>MEM/WB.IR </a:t>
            </a:r>
            <a:r>
              <a:rPr lang="en-US" b="1" dirty="0"/>
              <a:t>&lt;- EX/MEM.IR;</a:t>
            </a:r>
          </a:p>
          <a:p>
            <a:pPr marL="201168" lvl="1" indent="0">
              <a:buNone/>
            </a:pPr>
            <a:r>
              <a:rPr lang="en-US" sz="2700" b="1" dirty="0"/>
              <a:t>MEM/WB.LMD </a:t>
            </a:r>
            <a:r>
              <a:rPr lang="en-US" b="1" dirty="0"/>
              <a:t>&lt;- Mem[EX/</a:t>
            </a:r>
            <a:r>
              <a:rPr lang="en-US" b="1" dirty="0" err="1"/>
              <a:t>MEM.ALUOutput</a:t>
            </a:r>
            <a:r>
              <a:rPr lang="en-US" b="1" dirty="0"/>
              <a:t>]; </a:t>
            </a:r>
          </a:p>
          <a:p>
            <a:pPr marL="201168" lvl="1" indent="0">
              <a:buNone/>
            </a:pPr>
            <a:r>
              <a:rPr lang="en-US" b="1" dirty="0"/>
              <a:t>		or</a:t>
            </a:r>
          </a:p>
          <a:p>
            <a:pPr marL="201168" lvl="1" indent="0">
              <a:buNone/>
            </a:pPr>
            <a:r>
              <a:rPr lang="en-US" sz="2700" b="1" dirty="0"/>
              <a:t>Mem[EX/</a:t>
            </a:r>
            <a:r>
              <a:rPr lang="en-US" sz="2700" b="1" dirty="0" err="1"/>
              <a:t>MEM.ALUOutput</a:t>
            </a:r>
            <a:r>
              <a:rPr lang="en-US" sz="2700" b="1" dirty="0"/>
              <a:t>] </a:t>
            </a:r>
            <a:r>
              <a:rPr lang="en-US" b="1" dirty="0"/>
              <a:t>&lt;- EX/MEM.B;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10</a:t>
            </a:fld>
            <a:endParaRPr lang="en-US" kern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C649613-EAC8-46AB-8154-914758CCA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BABEB5-14C8-4D09-9A66-F64DD171D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306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52450" y="741574"/>
            <a:ext cx="10515600" cy="755779"/>
          </a:xfrm>
        </p:spPr>
        <p:txBody>
          <a:bodyPr/>
          <a:lstStyle/>
          <a:p>
            <a:r>
              <a:rPr lang="en-US" dirty="0"/>
              <a:t>WB Stage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73021" y="1740354"/>
            <a:ext cx="10452229" cy="40317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700" u="sng" dirty="0"/>
              <a:t>ALU instruction</a:t>
            </a:r>
          </a:p>
          <a:p>
            <a:pPr marL="0" indent="0">
              <a:buNone/>
            </a:pPr>
            <a:r>
              <a:rPr lang="en-US" dirty="0"/>
              <a:t>   Regs[MEM/WB.IR[rd]]&lt;-MEM/</a:t>
            </a:r>
            <a:r>
              <a:rPr lang="en-US" dirty="0" err="1"/>
              <a:t>WB.ALUOutput</a:t>
            </a:r>
            <a:r>
              <a:rPr lang="en-US" dirty="0"/>
              <a:t>;	</a:t>
            </a:r>
          </a:p>
          <a:p>
            <a:pPr marL="201168" lvl="1" indent="0">
              <a:buNone/>
            </a:pPr>
            <a:r>
              <a:rPr lang="en-US" b="1" dirty="0"/>
              <a:t>		or</a:t>
            </a:r>
          </a:p>
          <a:p>
            <a:pPr marL="201168" lvl="1" indent="0">
              <a:buNone/>
            </a:pPr>
            <a:r>
              <a:rPr lang="en-US" b="1" dirty="0"/>
              <a:t>Regs[MEM/WB.IR[rt]] &lt;- MEM/</a:t>
            </a:r>
            <a:r>
              <a:rPr lang="en-US" b="1" dirty="0" err="1"/>
              <a:t>WB.ALUOutput</a:t>
            </a:r>
            <a:r>
              <a:rPr lang="en-US" b="1" dirty="0"/>
              <a:t>;</a:t>
            </a:r>
          </a:p>
          <a:p>
            <a:pPr marL="0" indent="-198882">
              <a:buNone/>
            </a:pPr>
            <a:r>
              <a:rPr lang="en-US" dirty="0"/>
              <a:t> </a:t>
            </a:r>
            <a:r>
              <a:rPr lang="en-US" sz="2700" u="sng" dirty="0"/>
              <a:t>Load or store instruction</a:t>
            </a:r>
          </a:p>
          <a:p>
            <a:pPr marL="0" indent="-198882">
              <a:buNone/>
            </a:pPr>
            <a:r>
              <a:rPr lang="en-US" dirty="0"/>
              <a:t>For load only: </a:t>
            </a:r>
          </a:p>
          <a:p>
            <a:pPr marL="0" indent="-198882">
              <a:buNone/>
            </a:pPr>
            <a:r>
              <a:rPr lang="en-US" dirty="0"/>
              <a:t>    Regs[MEM/WB.IR[rt]] &lt;- MEM/WB.LMD;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11</a:t>
            </a:fld>
            <a:endParaRPr lang="en-US" kern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0D81C61-8DD2-4D90-B233-47D352BA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5D3AAC5-F3CB-4DFB-87E1-E2A6A0EBD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18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76250" y="595409"/>
            <a:ext cx="10515600" cy="755779"/>
          </a:xfrm>
        </p:spPr>
        <p:txBody>
          <a:bodyPr/>
          <a:lstStyle/>
          <a:p>
            <a:r>
              <a:rPr lang="en-US" dirty="0"/>
              <a:t>Implementing the Pipeline Registers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30145" y="1426028"/>
            <a:ext cx="10690355" cy="4784271"/>
          </a:xfrm>
        </p:spPr>
        <p:txBody>
          <a:bodyPr>
            <a:noAutofit/>
          </a:bodyPr>
          <a:lstStyle/>
          <a:p>
            <a:r>
              <a:rPr lang="en-US" sz="2200" dirty="0"/>
              <a:t> IF/ID, ID/EX, EX/MEM,MEM/WB :- registers of the 5 stage pipeline </a:t>
            </a:r>
          </a:p>
          <a:p>
            <a:r>
              <a:rPr lang="en-US" sz="2200" dirty="0"/>
              <a:t>Latches in each register</a:t>
            </a:r>
          </a:p>
          <a:p>
            <a:pPr lvl="1"/>
            <a:r>
              <a:rPr lang="en-US" sz="2500" b="1" u="sng" dirty="0"/>
              <a:t>IF/ID</a:t>
            </a:r>
            <a:r>
              <a:rPr lang="en-US" sz="2200" b="1" dirty="0"/>
              <a:t>: IR, NPC</a:t>
            </a:r>
          </a:p>
          <a:p>
            <a:pPr lvl="1"/>
            <a:r>
              <a:rPr lang="en-US" sz="2500" b="1" u="sng" dirty="0"/>
              <a:t>ID/EX</a:t>
            </a:r>
            <a:r>
              <a:rPr lang="en-US" sz="2200" b="1" dirty="0"/>
              <a:t>: IR, NPC, A, B , </a:t>
            </a:r>
            <a:r>
              <a:rPr lang="en-US" sz="2200" b="1" dirty="0" err="1"/>
              <a:t>Imm</a:t>
            </a:r>
            <a:endParaRPr lang="en-US" sz="2200" b="1" dirty="0"/>
          </a:p>
          <a:p>
            <a:pPr lvl="1"/>
            <a:r>
              <a:rPr lang="en-US" sz="2500" b="1" u="sng" dirty="0"/>
              <a:t>EX/MEM</a:t>
            </a:r>
            <a:r>
              <a:rPr lang="en-US" sz="2200" b="1" dirty="0"/>
              <a:t>: IR, B, ALUOutput , </a:t>
            </a:r>
            <a:r>
              <a:rPr lang="en-US" sz="2200" b="1" dirty="0" err="1"/>
              <a:t>cond</a:t>
            </a:r>
            <a:endParaRPr lang="en-US" sz="2200" b="1" dirty="0"/>
          </a:p>
          <a:p>
            <a:pPr lvl="1"/>
            <a:r>
              <a:rPr lang="en-US" sz="2500" b="1" u="sng" dirty="0"/>
              <a:t>MEM/WB</a:t>
            </a:r>
            <a:r>
              <a:rPr lang="en-US" sz="2200" b="1" dirty="0"/>
              <a:t>: IR, ALUOutput, LMD</a:t>
            </a:r>
            <a:endParaRPr lang="en-US" sz="2200" dirty="0"/>
          </a:p>
          <a:p>
            <a:pPr marL="0" indent="0">
              <a:buNone/>
            </a:pPr>
            <a:r>
              <a:rPr lang="en-US" sz="2500" u="sng" dirty="0"/>
              <a:t>Hints</a:t>
            </a:r>
            <a:r>
              <a:rPr lang="en-US" sz="2200" dirty="0"/>
              <a:t>:</a:t>
            </a:r>
          </a:p>
          <a:p>
            <a:pPr lvl="1"/>
            <a:r>
              <a:rPr lang="en-US" sz="2200" b="1" dirty="0"/>
              <a:t> Can be implemented using class</a:t>
            </a:r>
          </a:p>
          <a:p>
            <a:pPr lvl="1"/>
            <a:r>
              <a:rPr lang="en-US" sz="2200" b="1" dirty="0"/>
              <a:t>Class contains IR ,A ,B ,</a:t>
            </a:r>
            <a:r>
              <a:rPr lang="en-US" sz="2200" b="1" dirty="0" err="1"/>
              <a:t>Imm</a:t>
            </a:r>
            <a:r>
              <a:rPr lang="en-US" sz="2200" b="1" dirty="0"/>
              <a:t> and other latches as private members. </a:t>
            </a:r>
          </a:p>
          <a:p>
            <a:pPr lvl="1"/>
            <a:r>
              <a:rPr lang="en-US" sz="2200" b="1" dirty="0"/>
              <a:t>Can use get() and set() functions to access the private members of the class</a:t>
            </a:r>
          </a:p>
          <a:p>
            <a:pPr lvl="1"/>
            <a:r>
              <a:rPr lang="en-US" sz="2200" b="1" dirty="0"/>
              <a:t>Objects of the class could be IF_ID, ID_EX,EX_MEM,MEM_WB</a:t>
            </a:r>
          </a:p>
          <a:p>
            <a:pPr marL="400050" lvl="1" indent="0">
              <a:buNone/>
            </a:pPr>
            <a:r>
              <a:rPr lang="en-US" sz="2200" b="1" dirty="0"/>
              <a:t> </a:t>
            </a:r>
          </a:p>
          <a:p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12</a:t>
            </a:fld>
            <a:endParaRPr lang="en-US" kern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ED755-C1B7-430B-98A2-6C6E353F9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E3EA0-E338-439B-A967-5EA03BE38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219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4491" y="309122"/>
            <a:ext cx="10515600" cy="755779"/>
          </a:xfrm>
        </p:spPr>
        <p:txBody>
          <a:bodyPr/>
          <a:lstStyle/>
          <a:p>
            <a:r>
              <a:rPr lang="en-US" dirty="0"/>
              <a:t>Class to Implement Latch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718311" y="1004341"/>
            <a:ext cx="8382000" cy="5410200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/>
              <a:t>class latchReg</a:t>
            </a:r>
          </a:p>
          <a:p>
            <a:pPr marL="0" indent="0">
              <a:buNone/>
            </a:pPr>
            <a:r>
              <a:rPr lang="en-US" b="1" dirty="0"/>
              <a:t>{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b="1" dirty="0"/>
              <a:t>};</a:t>
            </a:r>
            <a:endParaRPr lang="en-US" sz="2800" b="1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13</a:t>
            </a:fld>
            <a:endParaRPr lang="en-US" kern="0" dirty="0"/>
          </a:p>
        </p:txBody>
      </p:sp>
      <p:grpSp>
        <p:nvGrpSpPr>
          <p:cNvPr id="6" name="Group 5"/>
          <p:cNvGrpSpPr/>
          <p:nvPr/>
        </p:nvGrpSpPr>
        <p:grpSpPr>
          <a:xfrm>
            <a:off x="2057946" y="1537741"/>
            <a:ext cx="8042365" cy="2082222"/>
            <a:chOff x="552995" y="1219200"/>
            <a:chExt cx="8538754" cy="2397034"/>
          </a:xfrm>
        </p:grpSpPr>
        <p:sp>
          <p:nvSpPr>
            <p:cNvPr id="7" name="Rectangle 6"/>
            <p:cNvSpPr/>
            <p:nvPr/>
          </p:nvSpPr>
          <p:spPr bwMode="auto">
            <a:xfrm>
              <a:off x="552995" y="1219200"/>
              <a:ext cx="8538754" cy="2397034"/>
            </a:xfrm>
            <a:prstGeom prst="rect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r>
                <a:rPr lang="en-US" sz="1600" dirty="0"/>
                <a:t>private:</a:t>
              </a:r>
            </a:p>
            <a:p>
              <a:pPr marL="400050" lvl="1"/>
              <a:r>
                <a:rPr lang="en-US" sz="1400" dirty="0"/>
                <a:t> unsigned long int IR;</a:t>
              </a:r>
            </a:p>
            <a:p>
              <a:pPr marL="400050" lvl="1"/>
              <a:r>
                <a:rPr lang="en-US" sz="1400" dirty="0"/>
                <a:t> unsigned long int NPC;</a:t>
              </a:r>
            </a:p>
            <a:p>
              <a:pPr marL="400050" lvl="1"/>
              <a:r>
                <a:rPr lang="en-US" sz="1400" dirty="0"/>
                <a:t> unsigned long int A;</a:t>
              </a:r>
            </a:p>
            <a:p>
              <a:pPr marL="400050" lvl="1"/>
              <a:r>
                <a:rPr lang="en-US" sz="1400" dirty="0"/>
                <a:t> unsigned long int B;</a:t>
              </a:r>
            </a:p>
            <a:p>
              <a:pPr marL="400050" lvl="1"/>
              <a:r>
                <a:rPr lang="en-US" sz="1400" dirty="0"/>
                <a:t> unsigned long int Imm;</a:t>
              </a:r>
            </a:p>
            <a:p>
              <a:pPr marL="400050" lvl="1"/>
              <a:r>
                <a:rPr lang="en-US" sz="1400" dirty="0"/>
                <a:t> unsigned long int ALUOutput;</a:t>
              </a:r>
            </a:p>
            <a:p>
              <a:pPr marL="400050" lvl="1"/>
              <a:r>
                <a:rPr lang="en-US" sz="1400" dirty="0"/>
                <a:t> unsigned long int cond;</a:t>
              </a:r>
            </a:p>
            <a:p>
              <a:pPr marL="400050" lvl="1"/>
              <a:r>
                <a:rPr lang="en-US" sz="1400" dirty="0"/>
                <a:t> unsigned long int LMD;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096692" y="1843346"/>
              <a:ext cx="172429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Latches as private members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057945" y="3619963"/>
            <a:ext cx="8042365" cy="769441"/>
            <a:chOff x="455023" y="4369709"/>
            <a:chExt cx="8538754" cy="769441"/>
          </a:xfrm>
        </p:grpSpPr>
        <p:sp>
          <p:nvSpPr>
            <p:cNvPr id="10" name="TextBox 9"/>
            <p:cNvSpPr txBox="1"/>
            <p:nvPr/>
          </p:nvSpPr>
          <p:spPr>
            <a:xfrm>
              <a:off x="455023" y="4369709"/>
              <a:ext cx="8538754" cy="769441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600" dirty="0"/>
                <a:t>public:</a:t>
              </a:r>
            </a:p>
            <a:p>
              <a:pPr marL="400050" lvl="1"/>
              <a:r>
                <a:rPr lang="en-US" sz="1400" dirty="0"/>
                <a:t> static unsigned long int R[32];</a:t>
              </a:r>
            </a:p>
            <a:p>
              <a:pPr marL="400050" lvl="1"/>
              <a:r>
                <a:rPr lang="en-US" sz="1400" dirty="0"/>
                <a:t> static unsigned long int PC;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295504" y="4430169"/>
              <a:ext cx="313073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32 Registers and PC as static members</a:t>
              </a:r>
            </a:p>
          </p:txBody>
        </p:sp>
      </p:grpSp>
      <p:sp>
        <p:nvSpPr>
          <p:cNvPr id="12" name="Content Placeholder 1"/>
          <p:cNvSpPr txBox="1">
            <a:spLocks/>
          </p:cNvSpPr>
          <p:nvPr/>
        </p:nvSpPr>
        <p:spPr bwMode="auto">
          <a:xfrm>
            <a:off x="2057944" y="4736052"/>
            <a:ext cx="8042366" cy="1375473"/>
          </a:xfrm>
          <a:prstGeom prst="rect">
            <a:avLst/>
          </a:prstGeom>
          <a:ln/>
          <a:extLst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0C22"/>
              </a:buClr>
              <a:buSzPct val="100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0C22"/>
              </a:buClr>
              <a:buSzPct val="100000"/>
              <a:buFont typeface="Times" panose="02020603050405020304" pitchFamily="18" charset="0"/>
              <a:buChar char="•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0C22"/>
              </a:buClr>
              <a:buSzPct val="100000"/>
              <a:buFont typeface="Times" panose="02020603050405020304" pitchFamily="18" charset="0"/>
              <a:buChar char="•"/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0C22"/>
              </a:buClr>
              <a:buSzPct val="100000"/>
              <a:buFont typeface="Times" panose="02020603050405020304" pitchFamily="18" charset="0"/>
              <a:buChar char="•"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40C22"/>
              </a:buClr>
              <a:buSzPct val="100000"/>
              <a:buFont typeface="Times" panose="02020603050405020304" pitchFamily="18" charset="0"/>
              <a:buChar char="•"/>
              <a:defRPr sz="1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latchReg IF_ID;</a:t>
            </a:r>
          </a:p>
          <a:p>
            <a:pPr marL="0" indent="0">
              <a:buNone/>
            </a:pPr>
            <a:r>
              <a:rPr lang="en-US" sz="1800" dirty="0"/>
              <a:t>latchReg ID_EX;</a:t>
            </a:r>
          </a:p>
          <a:p>
            <a:pPr marL="0" indent="0">
              <a:buNone/>
            </a:pPr>
            <a:r>
              <a:rPr lang="en-US" sz="1800" dirty="0"/>
              <a:t>latchReg EX_MEM;</a:t>
            </a:r>
          </a:p>
          <a:p>
            <a:pPr marL="0" indent="0">
              <a:buNone/>
            </a:pPr>
            <a:r>
              <a:rPr lang="en-US" sz="1800" dirty="0"/>
              <a:t>latchReg MEM_WB;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5601C7-9335-47EC-99C4-ECB51690D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E6E12673-FF00-4D78-A457-2EF019252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47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6725" y="575699"/>
            <a:ext cx="10515600" cy="755779"/>
          </a:xfrm>
        </p:spPr>
        <p:txBody>
          <a:bodyPr/>
          <a:lstStyle/>
          <a:p>
            <a:r>
              <a:rPr lang="en-US" dirty="0"/>
              <a:t>Implementing Memories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42974" y="1570691"/>
            <a:ext cx="9915525" cy="5410200"/>
          </a:xfrm>
        </p:spPr>
        <p:txBody>
          <a:bodyPr>
            <a:normAutofit/>
          </a:bodyPr>
          <a:lstStyle/>
          <a:p>
            <a:r>
              <a:rPr lang="en-US" dirty="0"/>
              <a:t>Use char arrays of size 2k to implement Data and instruction memory</a:t>
            </a:r>
          </a:p>
          <a:p>
            <a:pPr marL="2628900" lvl="6" indent="0">
              <a:buNone/>
            </a:pPr>
            <a:r>
              <a:rPr lang="en-US" sz="2400" b="1" dirty="0"/>
              <a:t>char IMem[2048];</a:t>
            </a:r>
          </a:p>
          <a:p>
            <a:pPr marL="2628900" lvl="6" indent="0">
              <a:buNone/>
            </a:pPr>
            <a:r>
              <a:rPr lang="en-US" sz="2400" b="1" dirty="0"/>
              <a:t>char DMem[2048];</a:t>
            </a:r>
          </a:p>
          <a:p>
            <a:r>
              <a:rPr lang="en-US" sz="2700" u="sng" dirty="0"/>
              <a:t>Hint</a:t>
            </a:r>
            <a:r>
              <a:rPr lang="en-US" dirty="0"/>
              <a:t>: To access a word from DMem (if address is given as the index)</a:t>
            </a:r>
          </a:p>
          <a:p>
            <a:pPr marL="2171700" lvl="5" indent="0">
              <a:buNone/>
            </a:pPr>
            <a:r>
              <a:rPr lang="en-US" sz="2400" b="1" i="1" dirty="0"/>
              <a:t> data=(DMem[address]&lt;&lt;24)|</a:t>
            </a:r>
          </a:p>
          <a:p>
            <a:pPr marL="2171700" lvl="5" indent="0">
              <a:buNone/>
            </a:pPr>
            <a:r>
              <a:rPr lang="en-US" sz="2400" b="1" i="1" dirty="0"/>
              <a:t>	(0x00FF0000&amp;(DMem[address+1]&lt;&lt;16))|</a:t>
            </a:r>
          </a:p>
          <a:p>
            <a:pPr marL="2171700" lvl="5" indent="0">
              <a:buNone/>
            </a:pPr>
            <a:r>
              <a:rPr lang="en-US" sz="2400" b="1" i="1" dirty="0"/>
              <a:t>	(0x0000FF00&amp;(DMem[address+2]&lt;&lt;8))|</a:t>
            </a:r>
          </a:p>
          <a:p>
            <a:pPr marL="2171700" lvl="5" indent="0">
              <a:buNone/>
            </a:pPr>
            <a:r>
              <a:rPr lang="en-US" sz="2400" b="1" i="1" dirty="0"/>
              <a:t>	(0x000000FF&amp;DMem[address+3]);</a:t>
            </a:r>
          </a:p>
          <a:p>
            <a:r>
              <a:rPr lang="en-US" sz="2700" u="sng" dirty="0"/>
              <a:t>Hint</a:t>
            </a:r>
            <a:r>
              <a:rPr lang="en-US" dirty="0"/>
              <a:t>: Access an instruction from </a:t>
            </a:r>
            <a:r>
              <a:rPr lang="en-US" dirty="0" err="1"/>
              <a:t>IMem</a:t>
            </a:r>
            <a:r>
              <a:rPr lang="en-US" dirty="0"/>
              <a:t> in a similar manner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14</a:t>
            </a:fld>
            <a:endParaRPr lang="en-US" kern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D47ECB-1D21-4355-BEAD-609148E3B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9239D-A4A3-4EA3-A5B0-EF032C68C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88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575" y="577600"/>
            <a:ext cx="10515600" cy="755779"/>
          </a:xfrm>
        </p:spPr>
        <p:txBody>
          <a:bodyPr/>
          <a:lstStyle/>
          <a:p>
            <a:r>
              <a:rPr lang="en-US" dirty="0"/>
              <a:t>Registers and PC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2706"/>
            <a:ext cx="3095625" cy="490250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32 registers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R0 hardwired to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Hint: You may use array of 32 </a:t>
            </a:r>
            <a:r>
              <a:rPr lang="en-US" sz="2500" u="sng" dirty="0"/>
              <a:t>long unsigned int</a:t>
            </a:r>
            <a:r>
              <a:rPr lang="en-US" sz="2500" dirty="0"/>
              <a:t> </a:t>
            </a:r>
            <a:r>
              <a:rPr lang="en-US" sz="2200" dirty="0"/>
              <a:t>to store the registers and a </a:t>
            </a:r>
            <a:r>
              <a:rPr lang="en-US" sz="2500" u="sng" dirty="0"/>
              <a:t>long unsigned int </a:t>
            </a:r>
            <a:r>
              <a:rPr lang="en-US" sz="2200" dirty="0"/>
              <a:t>to store PC</a:t>
            </a:r>
          </a:p>
          <a:p>
            <a:pPr marL="0" indent="0">
              <a:buNone/>
            </a:pPr>
            <a:r>
              <a:rPr lang="en-US" sz="2200" dirty="0"/>
              <a:t> </a:t>
            </a:r>
          </a:p>
          <a:p>
            <a:pPr marL="0" indent="0">
              <a:buNone/>
            </a:pPr>
            <a:endParaRPr lang="en-US" sz="2200" dirty="0">
              <a:highlight>
                <a:srgbClr val="FFFF00"/>
              </a:highlight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284454"/>
              </p:ext>
            </p:extLst>
          </p:nvPr>
        </p:nvGraphicFramePr>
        <p:xfrm>
          <a:off x="4038600" y="1255952"/>
          <a:ext cx="7890511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2700">
                  <a:extLst>
                    <a:ext uri="{9D8B030D-6E8A-4147-A177-3AD203B41FA5}">
                      <a16:colId xmlns:a16="http://schemas.microsoft.com/office/drawing/2014/main" val="141661209"/>
                    </a:ext>
                  </a:extLst>
                </a:gridCol>
                <a:gridCol w="1402400">
                  <a:extLst>
                    <a:ext uri="{9D8B030D-6E8A-4147-A177-3AD203B41FA5}">
                      <a16:colId xmlns:a16="http://schemas.microsoft.com/office/drawing/2014/main" val="1028118120"/>
                    </a:ext>
                  </a:extLst>
                </a:gridCol>
                <a:gridCol w="4775411">
                  <a:extLst>
                    <a:ext uri="{9D8B030D-6E8A-4147-A177-3AD203B41FA5}">
                      <a16:colId xmlns:a16="http://schemas.microsoft.com/office/drawing/2014/main" val="35290605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Registers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394379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$zero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The constant</a:t>
                      </a:r>
                      <a:r>
                        <a:rPr lang="en-US" sz="1800" b="1" baseline="0" dirty="0"/>
                        <a:t> value 0</a:t>
                      </a:r>
                      <a:endParaRPr lang="en-US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1434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$at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Reserved for assembler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380639"/>
                  </a:ext>
                </a:extLst>
              </a:tr>
              <a:tr h="36022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$v0-$v1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Values for results and expression evaluation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522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$a0-$a3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4-7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Arguments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31094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$t0-$t7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8-15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Temporary registers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138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$s0-$s7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16-23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Saved registers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22049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$t8-$t9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24-25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More temporary registers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7454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$k0-$k1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26-27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Reserved</a:t>
                      </a:r>
                      <a:r>
                        <a:rPr lang="en-US" sz="1800" b="1" baseline="0" dirty="0"/>
                        <a:t> for operating system kernel</a:t>
                      </a:r>
                      <a:endParaRPr lang="en-US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119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$gp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global</a:t>
                      </a:r>
                      <a:r>
                        <a:rPr lang="en-US" sz="1800" b="1" baseline="0" dirty="0"/>
                        <a:t> pointer</a:t>
                      </a:r>
                      <a:endParaRPr lang="en-US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8870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$sp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Stack pointer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09109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$fp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Frame pointer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19873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$ra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Return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0012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2CA10-BC6F-4BF2-9776-0A4145239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3BED8-5A47-482F-964F-2A8742C58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A6322-5176-4032-85E4-B12B05D80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15</a:t>
            </a:fld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961676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7175" y="210655"/>
            <a:ext cx="9039225" cy="1473136"/>
          </a:xfrm>
        </p:spPr>
        <p:txBody>
          <a:bodyPr>
            <a:normAutofit/>
          </a:bodyPr>
          <a:lstStyle/>
          <a:p>
            <a:r>
              <a:rPr lang="en-US" sz="3600" dirty="0"/>
              <a:t>Implementing Parallel Execution in a Sequential Machine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3421" y="1596479"/>
            <a:ext cx="11585704" cy="5095875"/>
          </a:xfrm>
        </p:spPr>
        <p:txBody>
          <a:bodyPr>
            <a:noAutofit/>
          </a:bodyPr>
          <a:lstStyle/>
          <a:p>
            <a:r>
              <a:rPr lang="en-US" sz="2200" dirty="0"/>
              <a:t>2 ways to implement the parallel execution of all the functional units using a sequential machine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200" b="1" dirty="0"/>
              <a:t>Call IF , ID , EX, MEM , WB in the order mentioned </a:t>
            </a:r>
          </a:p>
          <a:p>
            <a:pPr lvl="3"/>
            <a:r>
              <a:rPr lang="en-US" sz="2200" b="1" dirty="0"/>
              <a:t>IF operates on 5</a:t>
            </a:r>
            <a:r>
              <a:rPr lang="en-US" sz="2200" b="1" baseline="30000" dirty="0"/>
              <a:t>th</a:t>
            </a:r>
            <a:r>
              <a:rPr lang="en-US" sz="2200" b="1" dirty="0"/>
              <a:t> instruction</a:t>
            </a:r>
          </a:p>
          <a:p>
            <a:pPr lvl="3"/>
            <a:r>
              <a:rPr lang="en-US" sz="2200" b="1" dirty="0"/>
              <a:t>ID operates on 4</a:t>
            </a:r>
            <a:r>
              <a:rPr lang="en-US" sz="2200" b="1" baseline="30000" dirty="0"/>
              <a:t>th</a:t>
            </a:r>
            <a:r>
              <a:rPr lang="en-US" sz="2200" b="1" dirty="0"/>
              <a:t> instruction</a:t>
            </a:r>
          </a:p>
          <a:p>
            <a:pPr lvl="3"/>
            <a:r>
              <a:rPr lang="en-US" sz="2200" b="1" dirty="0"/>
              <a:t>EX operates on 3</a:t>
            </a:r>
            <a:r>
              <a:rPr lang="en-US" sz="2200" b="1" baseline="30000" dirty="0"/>
              <a:t>rd</a:t>
            </a:r>
            <a:r>
              <a:rPr lang="en-US" sz="2200" b="1" dirty="0"/>
              <a:t> instruction and so on</a:t>
            </a:r>
          </a:p>
          <a:p>
            <a:pPr lvl="2"/>
            <a:r>
              <a:rPr lang="en-US" sz="2200" b="1" dirty="0"/>
              <a:t>Execution of IF stage before ID stage will cause the values of IF_ID register to be overwritten. </a:t>
            </a:r>
          </a:p>
          <a:p>
            <a:pPr lvl="2"/>
            <a:r>
              <a:rPr lang="en-US" sz="2200" b="1" dirty="0"/>
              <a:t>Instead of operating on the 4</a:t>
            </a:r>
            <a:r>
              <a:rPr lang="en-US" sz="2200" b="1" baseline="30000" dirty="0"/>
              <a:t>th</a:t>
            </a:r>
            <a:r>
              <a:rPr lang="en-US" sz="2200" b="1" dirty="0"/>
              <a:t> instruction, ID stage would operate on the 5</a:t>
            </a:r>
            <a:r>
              <a:rPr lang="en-US" sz="2200" b="1" baseline="30000" dirty="0"/>
              <a:t>th</a:t>
            </a:r>
            <a:r>
              <a:rPr lang="en-US" sz="2200" b="1" dirty="0"/>
              <a:t> instruction</a:t>
            </a:r>
          </a:p>
          <a:p>
            <a:pPr lvl="2"/>
            <a:r>
              <a:rPr lang="en-US" sz="2200" b="1" dirty="0"/>
              <a:t>Prevent this by using temporary registers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2200" b="1" dirty="0"/>
              <a:t>Call WB, MEM, EX, ID, IF in the order mentioned</a:t>
            </a:r>
          </a:p>
          <a:p>
            <a:pPr lvl="2" indent="-285750"/>
            <a:r>
              <a:rPr lang="en-US" sz="2200" b="1" dirty="0"/>
              <a:t>Slightly complicated but prevents the need for temporary registers</a:t>
            </a:r>
          </a:p>
          <a:p>
            <a:pPr lvl="3" indent="-285750"/>
            <a:r>
              <a:rPr lang="en-US" sz="2200" b="1" dirty="0"/>
              <a:t>IF operates on the 5</a:t>
            </a:r>
            <a:r>
              <a:rPr lang="en-US" sz="2200" b="1" baseline="30000" dirty="0"/>
              <a:t>th</a:t>
            </a:r>
            <a:r>
              <a:rPr lang="en-US" sz="2200" b="1" dirty="0"/>
              <a:t> instruction</a:t>
            </a:r>
          </a:p>
          <a:p>
            <a:pPr lvl="3" indent="-285750"/>
            <a:r>
              <a:rPr lang="en-US" sz="2200" b="1" dirty="0"/>
              <a:t>ID operates on the 4</a:t>
            </a:r>
            <a:r>
              <a:rPr lang="en-US" sz="2200" b="1" baseline="30000" dirty="0"/>
              <a:t>th</a:t>
            </a:r>
            <a:r>
              <a:rPr lang="en-US" sz="2200" b="1" dirty="0"/>
              <a:t> instruction and so on</a:t>
            </a:r>
          </a:p>
          <a:p>
            <a:pPr marL="1200150" lvl="2" indent="-342900">
              <a:buFont typeface="+mj-lt"/>
              <a:buAutoNum type="arabicPeriod"/>
            </a:pPr>
            <a:endParaRPr lang="en-US" sz="2200" b="1" dirty="0"/>
          </a:p>
          <a:p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16</a:t>
            </a:fld>
            <a:endParaRPr lang="en-US" kern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55EE3B-FE50-4012-A7DC-F3BA2F9ED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B6DC9-351C-40E4-A0C6-F379CBFE5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501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587152"/>
            <a:ext cx="10515600" cy="755779"/>
          </a:xfrm>
        </p:spPr>
        <p:txBody>
          <a:bodyPr/>
          <a:lstStyle/>
          <a:p>
            <a:r>
              <a:rPr lang="en-US" dirty="0"/>
              <a:t>Other Remarks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6954" y="1541506"/>
            <a:ext cx="10142071" cy="505559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No </a:t>
            </a:r>
            <a:r>
              <a:rPr lang="en-US" sz="2700" u="sng" dirty="0"/>
              <a:t>interrupts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Does not support </a:t>
            </a:r>
            <a:r>
              <a:rPr lang="en-US" sz="2700" u="sng" dirty="0"/>
              <a:t>out-of-order execution 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Only one instruction can occupy a given pipeline stage at any time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b="1" dirty="0"/>
              <a:t>This may cause other instructions to be stalled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 Must take care of structural, data and control hazards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Does not support </a:t>
            </a:r>
            <a:r>
              <a:rPr lang="en-US" sz="2700" u="sng" dirty="0"/>
              <a:t>data forwarding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Assume that </a:t>
            </a:r>
            <a:r>
              <a:rPr lang="en-US" sz="2700" u="sng" dirty="0"/>
              <a:t>register writes </a:t>
            </a:r>
            <a:r>
              <a:rPr lang="en-US" dirty="0"/>
              <a:t>are completed in the </a:t>
            </a:r>
            <a:r>
              <a:rPr lang="en-US" sz="2700" u="sng" dirty="0"/>
              <a:t>first half </a:t>
            </a:r>
            <a:r>
              <a:rPr lang="en-US" dirty="0"/>
              <a:t>of a clock cycle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700" u="sng" dirty="0"/>
              <a:t>Register reads </a:t>
            </a:r>
            <a:r>
              <a:rPr lang="en-US" dirty="0"/>
              <a:t>are carried out in the </a:t>
            </a:r>
            <a:r>
              <a:rPr lang="en-US" sz="2700" u="sng" dirty="0"/>
              <a:t>second half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AF4A6-151C-4F30-A0C0-93E7EBA84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1A9C1-3009-4B0B-92DF-CA7E55409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D4976-115F-4F63-92C5-FEFB03570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17</a:t>
            </a:fld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803021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604934"/>
            <a:ext cx="10515600" cy="755779"/>
          </a:xfrm>
        </p:spPr>
        <p:txBody>
          <a:bodyPr/>
          <a:lstStyle/>
          <a:p>
            <a:r>
              <a:rPr lang="en-US" dirty="0"/>
              <a:t>Dealing With Branches / Control Hazards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6350" y="1552575"/>
            <a:ext cx="10706100" cy="36766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When the branch is detected (in the ID stage)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 should tell the IF stage to stop fetching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 should flush the IF-ID register (i.e., insert NOPs)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When the branch is resolved (in the EX stage),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Resume fetch of instructions based on the branch outcome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4EA68-67FB-4087-ABBA-1A3A48DA7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96342-0C7D-40DB-88DA-E5E89E931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8E8DB-5756-4E09-AB88-76D9966F5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18</a:t>
            </a:fld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901548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47809"/>
            <a:ext cx="10515600" cy="755779"/>
          </a:xfrm>
        </p:spPr>
        <p:txBody>
          <a:bodyPr/>
          <a:lstStyle/>
          <a:p>
            <a:r>
              <a:rPr lang="en-US" dirty="0"/>
              <a:t>Structural Hazard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3020" y="1959429"/>
            <a:ext cx="10176005" cy="338409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Structural hazard occurs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Execution unit is busy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Data memory is busy ( being accessed by other instruction)</a:t>
            </a:r>
          </a:p>
          <a:p>
            <a:r>
              <a:rPr lang="en-US" dirty="0"/>
              <a:t> Structural hazard : If EX unit is busy due to instruction </a:t>
            </a:r>
            <a:r>
              <a:rPr lang="en-US" i="1" dirty="0" err="1"/>
              <a:t>i</a:t>
            </a:r>
            <a:r>
              <a:rPr lang="en-US" dirty="0"/>
              <a:t>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/>
              <a:t>assume EX/MEM  register cannot be written till</a:t>
            </a:r>
            <a:r>
              <a:rPr lang="en-US" b="1" i="1" dirty="0"/>
              <a:t> </a:t>
            </a:r>
            <a:r>
              <a:rPr lang="en-US" b="1" i="1" dirty="0" err="1"/>
              <a:t>i</a:t>
            </a:r>
            <a:r>
              <a:rPr lang="en-US" b="1" i="1" dirty="0"/>
              <a:t> </a:t>
            </a:r>
            <a:r>
              <a:rPr lang="en-US" b="1" dirty="0"/>
              <a:t>completes execution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/>
              <a:t>assume ID/EX register  cannot be overwritten by instruction i+1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21A86-1CB2-40DC-B54A-B49E1B4F0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7C273-5106-4017-A99F-9D764F43D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3C2ED-A45A-482D-972B-7A3E1C498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19</a:t>
            </a:fld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84478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28650" y="747809"/>
            <a:ext cx="10515600" cy="755779"/>
          </a:xfrm>
        </p:spPr>
        <p:txBody>
          <a:bodyPr/>
          <a:lstStyle/>
          <a:p>
            <a:r>
              <a:rPr lang="en-US" dirty="0"/>
              <a:t>Data Hazard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55610" y="1759403"/>
            <a:ext cx="10321990" cy="3907971"/>
          </a:xfrm>
        </p:spPr>
        <p:txBody>
          <a:bodyPr/>
          <a:lstStyle/>
          <a:p>
            <a:r>
              <a:rPr lang="en-US" dirty="0"/>
              <a:t>Source registers in the ID stage are compared with the destination registers in EX/MEM and MEM/WB stage</a:t>
            </a:r>
          </a:p>
          <a:p>
            <a:r>
              <a:rPr lang="en-US" dirty="0"/>
              <a:t>Comparison only if source registers are Read Enabled and destination register is Write enabled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20</a:t>
            </a:fld>
            <a:endParaRPr lang="en-US" kern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EBF6B-A9EC-47DB-83BE-F00A5DB5A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BF22D-3CC5-4787-B5B5-AD16D982E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769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775" y="626341"/>
            <a:ext cx="10515600" cy="755779"/>
          </a:xfrm>
        </p:spPr>
        <p:txBody>
          <a:bodyPr/>
          <a:lstStyle/>
          <a:p>
            <a:r>
              <a:rPr lang="en-US" dirty="0"/>
              <a:t>Outputs of the Simulator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4884" y="1615211"/>
            <a:ext cx="10197466" cy="4537939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dirty="0"/>
              <a:t>The output of the simulator will be the following statistics: </a:t>
            </a:r>
          </a:p>
          <a:p>
            <a:pPr marL="914400" lvl="1"/>
            <a:r>
              <a:rPr lang="en-US" sz="2700" b="1" u="sng" dirty="0"/>
              <a:t>Utilization of each stage</a:t>
            </a:r>
            <a:r>
              <a:rPr lang="en-US" b="1" dirty="0"/>
              <a:t>: Utilization is the fraction of cycles for which the stage is doing useful work. Just waiting for a structural, control, or data hazard to clear in front of it does not constitute useful work. </a:t>
            </a:r>
          </a:p>
          <a:p>
            <a:pPr marL="914400" lvl="1"/>
            <a:r>
              <a:rPr lang="en-US" sz="2700" b="1" u="sng" dirty="0"/>
              <a:t>Total time</a:t>
            </a:r>
            <a:r>
              <a:rPr lang="en-US" sz="2700" b="1" dirty="0"/>
              <a:t> </a:t>
            </a:r>
            <a:r>
              <a:rPr lang="en-US" b="1" dirty="0"/>
              <a:t>(in CPU cycles) taken to execute the MIPS program on the simulated machine. (This is NOT the time taken to execute the simulation; it is the time taken by the machine being simulated.)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ACB67-9F16-4636-949B-AEF047C55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Skill Building in C++ Programming Hints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A3B59-1AF5-4B2C-A965-61E286143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UMass Amherst Global. All rights reserved.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201E5-0DDC-49C7-9EAF-692F0129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B3D58-B921-4DDE-A546-EA3807BD7907}" type="slidenum">
              <a:rPr lang="en-US" kern="0" smtClean="0"/>
              <a:pPr>
                <a:defRPr/>
              </a:pPr>
              <a:t>21</a:t>
            </a:fld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945906377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Blank Presentation">
      <a:majorFont>
        <a:latin typeface="Georgia"/>
        <a:ea typeface=""/>
        <a:cs typeface=""/>
      </a:majorFont>
      <a:minorFont>
        <a:latin typeface="Verdana"/>
        <a:ea typeface=""/>
        <a:cs typeface=""/>
      </a:minorFont>
    </a:fontScheme>
    <a:fmtScheme name="Top 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accent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accent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1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Minion Pro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2" id="{24034C17-0B60-4E3A-A38D-ECA96AF79518}" vid="{4B124124-F076-4EEE-90DC-522518ED0FE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6715</TotalTime>
  <Words>1845</Words>
  <Application>Microsoft Office PowerPoint</Application>
  <PresentationFormat>Widescreen</PresentationFormat>
  <Paragraphs>295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5" baseType="lpstr">
      <vt:lpstr>宋体</vt:lpstr>
      <vt:lpstr>Arial</vt:lpstr>
      <vt:lpstr>Calibri</vt:lpstr>
      <vt:lpstr>Geneva</vt:lpstr>
      <vt:lpstr>Georgia</vt:lpstr>
      <vt:lpstr>Leelawadee</vt:lpstr>
      <vt:lpstr>Minion Pro</vt:lpstr>
      <vt:lpstr>Times</vt:lpstr>
      <vt:lpstr>Times New Roman</vt:lpstr>
      <vt:lpstr>Tw Cen MT</vt:lpstr>
      <vt:lpstr>Verdana</vt:lpstr>
      <vt:lpstr>Wingdings</vt:lpstr>
      <vt:lpstr>Blank Presentation</vt:lpstr>
      <vt:lpstr>Theme12</vt:lpstr>
      <vt:lpstr>ECE 697CE: Foundations of Computer Engineering</vt:lpstr>
      <vt:lpstr>Objective</vt:lpstr>
      <vt:lpstr>Reading the Machine Code</vt:lpstr>
      <vt:lpstr>Main Components</vt:lpstr>
      <vt:lpstr>Implementing the Functional Unit</vt:lpstr>
      <vt:lpstr>IF Stage</vt:lpstr>
      <vt:lpstr>ID Stage</vt:lpstr>
      <vt:lpstr>When Does MIPS Sign Extend?</vt:lpstr>
      <vt:lpstr>EX Stage</vt:lpstr>
      <vt:lpstr>MEM Stage</vt:lpstr>
      <vt:lpstr>WB Stage</vt:lpstr>
      <vt:lpstr>Implementing the Pipeline Registers</vt:lpstr>
      <vt:lpstr>Class to Implement Latch</vt:lpstr>
      <vt:lpstr>Implementing Memories</vt:lpstr>
      <vt:lpstr>Registers and PC</vt:lpstr>
      <vt:lpstr>Implementing Parallel Execution in a Sequential Machine</vt:lpstr>
      <vt:lpstr>Other Remarks</vt:lpstr>
      <vt:lpstr>Dealing With Branches / Control Hazards</vt:lpstr>
      <vt:lpstr>Structural Hazard </vt:lpstr>
      <vt:lpstr>Data Hazard</vt:lpstr>
      <vt:lpstr>Outputs of the Simulator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MIPS</dc:title>
  <dc:creator>windows</dc:creator>
  <cp:lastModifiedBy>Yadi Eslami</cp:lastModifiedBy>
  <cp:revision>95</cp:revision>
  <dcterms:created xsi:type="dcterms:W3CDTF">2016-10-17T18:25:12Z</dcterms:created>
  <dcterms:modified xsi:type="dcterms:W3CDTF">2018-04-09T17:15:58Z</dcterms:modified>
</cp:coreProperties>
</file>